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E3A8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2743200"/>
            <a:ext cx="2743200" cy="2743200"/>
          </a:xfrm>
          <a:prstGeom prst="ellipse">
            <a:avLst/>
          </a:prstGeom>
          <a:solidFill>
            <a:srgbClr val="0097A7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73152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Mastering Google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Ecosystem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"งานยาก จบง่าย ด้วยพลัง AI"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บรรยายโดย ดร.ธัญญา สัตยาอภิธาน  |  Presented by Dr. Thanya Sattayaaphithan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กรมเจรจาการค้าระหว่างประเทศ  |  Department of Trade Negotiations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0897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กำหนดการอบรม (ง่าย → ยาก) | Course 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00600"/>
            <a:ext cx="80467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Google AI Ecosystem  |  กรมเจรจาการค้าระหว่างประเทศ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14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09:00-10:00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03120" y="914400"/>
            <a:ext cx="658368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103120" y="914400"/>
            <a:ext cx="54864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2331720" y="91440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AI &amp; Gemini + Custom Instruction</a:t>
            </a:r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ปูพื้นฐาน AI + ตั้งค่าเบื้องต้น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536192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00897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53619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10:00-11:00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03120" y="1536192"/>
            <a:ext cx="658368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103120" y="1536192"/>
            <a:ext cx="54864" cy="4572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5" name="Text 13"/>
          <p:cNvSpPr/>
          <p:nvPr/>
        </p:nvSpPr>
        <p:spPr>
          <a:xfrm>
            <a:off x="2331720" y="153619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RCTF Prompting + Reverse Prompt + CoT</a:t>
            </a:r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เทคนิคสั่งงาน AI ระดับมืออาชีพ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157984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0097A7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15798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11:00-12:00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103120" y="2157984"/>
            <a:ext cx="658368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103120" y="2157984"/>
            <a:ext cx="54864" cy="45720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20" name="Text 18"/>
          <p:cNvSpPr/>
          <p:nvPr/>
        </p:nvSpPr>
        <p:spPr>
          <a:xfrm>
            <a:off x="2331720" y="2157984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Tools: Text, Image, Audio, Video</a:t>
            </a:r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สร้างสื่อผสม + ร่างอีเมล + สร้างภาพ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779776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FF6F0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77977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13:00-14:30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103120" y="2779776"/>
            <a:ext cx="658368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103120" y="2779776"/>
            <a:ext cx="54864" cy="45720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25" name="Text 23"/>
          <p:cNvSpPr/>
          <p:nvPr/>
        </p:nvSpPr>
        <p:spPr>
          <a:xfrm>
            <a:off x="2331720" y="2779776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NotebookLM + Deep Research + Project</a:t>
            </a:r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ฐานความรู้ + ค้นคว้าเชิงลึก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401568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7B1FA2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40156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14:45-15:45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103120" y="3401568"/>
            <a:ext cx="658368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103120" y="3401568"/>
            <a:ext cx="54864" cy="45720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30" name="Text 28"/>
          <p:cNvSpPr/>
          <p:nvPr/>
        </p:nvSpPr>
        <p:spPr>
          <a:xfrm>
            <a:off x="2331720" y="3401568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Studio + Data Analysis + Customizing</a:t>
            </a:r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ปรับแต่ง AI + วิเคราะห์ข้อมูลไฟล์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02336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D32F2F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0233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15:45-16:30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103120" y="4023360"/>
            <a:ext cx="658368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103120" y="4023360"/>
            <a:ext cx="54864" cy="4572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5" name="Text 33"/>
          <p:cNvSpPr/>
          <p:nvPr/>
        </p:nvSpPr>
        <p:spPr>
          <a:xfrm>
            <a:off x="2331720" y="402336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+ AI Agent Automation</a:t>
            </a:r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สร้างโปรเจกต์ + ตั้งงานอัตโนมัติ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45720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ง่าย Easy ────────────────────────────── ยาก Advanced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097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2926080" y="914400"/>
            <a:ext cx="5760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 to AI &amp;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Gemini Ecosystem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926080" y="2011680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ปูพื้นฐาน AI + ตั้งค่า Custom Instruction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926080" y="3200400"/>
            <a:ext cx="2011680" cy="411480"/>
          </a:xfrm>
          <a:prstGeom prst="roundRect">
            <a:avLst>
              <a:gd name="adj" fmla="val 22222"/>
            </a:avLst>
          </a:prstGeom>
          <a:solidFill>
            <a:srgbClr val="FF6F00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0" y="3200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09:00 - 10:00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4389120"/>
            <a:ext cx="7680960" cy="0"/>
          </a:xfrm>
          <a:prstGeom prst="line">
            <a:avLst/>
          </a:prstGeom>
          <a:noFill/>
          <a:ln w="12700">
            <a:solidFill>
              <a:srgbClr val="0097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86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Google AI Ecosystem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สองรูปแบบ | Two Types of AI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00600"/>
            <a:ext cx="80467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Google AI Ecosystem  |  กรมเจรจาการค้าระหว่างประเทศ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37490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54864" cy="32918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07899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AI  |  วิเคราะห์/ทำนายผล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444752"/>
            <a:ext cx="342900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วิเคราะห์ข้อมูลเชิงสถิติ (Statistical Analysis)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ทำนายผล เช่น ยอดขาย แนวโน้มตลาด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จดจำรูปแบบ (Pattern Recognition)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ตัวอย่าง: จัดหมวดหมู่สินค้า, Fraud Detection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37490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005840"/>
            <a:ext cx="54864" cy="329184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07899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 |  สร้างสรรค์เนื้อหาใหม่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444752"/>
            <a:ext cx="342900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สร้างข้อความ รูปภาพ เสียง วิดีโอใหม่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เข้าใจและตอบด้วยภาษาธรรมชาติ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ช่วยเขียน สรุป แปลภาษา วิเคราะห์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ตัวอย่าง: Gemini, ChatGPT, Claude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Gemini Capabilities | ความสามารถของ Gemini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00600"/>
            <a:ext cx="80467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Google AI Ecosystem  |  กรมเจรจาการค้าระหว่างประเทศ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3840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384048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1430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Multimodal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16002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เข้าใจทั้งข้อความ ภาพ เสียง วิดีโอ และโค้ด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3840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005840"/>
            <a:ext cx="3840480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1430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897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Long Context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0" y="16002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รองรับเอกสารขนาดใหญ่ ยาวถึง 1 ล้านโทเคน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3840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834640"/>
            <a:ext cx="3840480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971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Integration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" y="34290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เชื่อมต่อ Gmail, Docs, Sheets, Drive อัตโนมัติ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2834640"/>
            <a:ext cx="3840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2834640"/>
            <a:ext cx="3840480" cy="54864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2971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B1FA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Reasoning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029200" y="34290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วิเคราะห์ซับซ้อน คิดเป็นขั้นตอนมีเหตุผล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เทคนิค #1: Custom Instruction | ตั้งค่าให้ AI รู้จักคุณ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00600"/>
            <a:ext cx="80467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Google AI Ecosystem  |  กรมเจรจาการค้าระหว่างประเทศ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601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ตั้งค่าครั้งเดียว ใช้ได้ทุกแชท — AI จะจดจำบริบท อาชีพ และรูปแบบที่คุณต้องการโดยอัตโนมัติ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828800"/>
            <a:ext cx="54864" cy="25603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0195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วิธีตั้งค่า | How to Set Up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267712"/>
            <a:ext cx="361188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เข้า Settings &gt; Personalization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ระบุ: อาชีพ ตำแหน่ง หน่วยงาน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ระบุ: รูปแบบการตอบที่ต้องการ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ตัวอย่าง: "ฉันเป็นนักเจรจาการค้า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กรมเจรจาฯ ต้องการคำตอบกระชับ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มี Action Items ภาษาไทย"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82880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828800"/>
            <a:ext cx="54864" cy="25603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90195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ประโยชน์ | Benefits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267712"/>
            <a:ext cx="361188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จำบริบทตลอด ไม่ต้องบอกซ้ำ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ได้คำตอบตรงกับงานมากขึ้น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ประหยัดเวลาเขียน Prompt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เปรียบเสมือน 'โปรไฟล์' ของคุณใน AI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097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2926080" y="914400"/>
            <a:ext cx="5760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Mastering Prompt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Engineering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926080" y="2011680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RCTF + Reverse Prompting + Chain of Thought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926080" y="3200400"/>
            <a:ext cx="2011680" cy="411480"/>
          </a:xfrm>
          <a:prstGeom prst="roundRect">
            <a:avLst>
              <a:gd name="adj" fmla="val 22222"/>
            </a:avLst>
          </a:prstGeom>
          <a:solidFill>
            <a:srgbClr val="FF6F00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0" y="3200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10:00 - 11:00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4389120"/>
            <a:ext cx="7680960" cy="0"/>
          </a:xfrm>
          <a:prstGeom prst="line">
            <a:avLst/>
          </a:prstGeom>
          <a:noFill/>
          <a:ln w="12700">
            <a:solidFill>
              <a:srgbClr val="0097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86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Google AI Ecosystem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เทคนิค #2: RCTF Prompting | โครงสร้าง Prompt มืออาชีพ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00600"/>
            <a:ext cx="80467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Google AI Ecosystem  |  กรมเจรจาการค้าระหว่างประเทศ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685800" cy="6858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9601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463040" y="914400"/>
            <a:ext cx="71323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45920" y="9326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Role | บทบาท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31920" y="96012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กำหนดบทบาทให้ AI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"คุณคือนักวิเคราะห์การค้าระหว่างประเทศ"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1920240"/>
            <a:ext cx="685800" cy="68580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920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1463040" y="1874520"/>
            <a:ext cx="71323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645920" y="18928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 | บริบท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31920" y="192024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ให้ข้อมูลพื้นฐาน/บริบท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"กำลังเตรียมรายงานสรุปผล RCEP ปี 2025"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880360"/>
            <a:ext cx="685800" cy="685800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8803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1463040" y="2834640"/>
            <a:ext cx="71323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645920" y="28529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Task | งาน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931920" y="288036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ระบุงานที่ต้องทำชัดเจน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"วิเคราะห์ผลกระทบต่อสินค้าเกษตร 5 อันดับ"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840480"/>
            <a:ext cx="685800" cy="685800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840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1463040" y="3794760"/>
            <a:ext cx="71323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645920" y="38130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Format | รูปแบบ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931920" y="384048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กำหนดรูปแบบผลลัพธ์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"ตารางเปรียบเทียบ ภาษาไทย ไม่เกิน 500 คำ"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Workshop: RCTF เปรียบเทียบ | Good vs Bad Prompt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00600"/>
            <a:ext cx="80467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Google AI Ecosystem  |  กรมเจรจาการค้าระหว่างประเทศ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3931920" cy="3566160"/>
          </a:xfrm>
          <a:prstGeom prst="rect">
            <a:avLst/>
          </a:prstGeom>
          <a:solidFill>
            <a:srgbClr val="FFF3F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60120"/>
            <a:ext cx="3931920" cy="4572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60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Prompt | ไม่ดี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"สรุป FTA ให้หน่อย"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ปัญหา: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ไม่ระบุ Role → AI ไม่รู้มุมมอง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ไม่มี Context → ขาดบริบท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กว้างเกินไป → FTA ไหน?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ไม่กำหนด Format → ผลลัพธ์สุ่ม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3931920" cy="3566160"/>
          </a:xfrm>
          <a:prstGeom prst="rect">
            <a:avLst/>
          </a:prstGeom>
          <a:solidFill>
            <a:srgbClr val="F0FFF4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60120"/>
            <a:ext cx="3931920" cy="457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960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Prompt (RCTF) | ดี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55448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R: </a:t>
            </a:r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"นักวิเคราะห์การค้าระหว่างประเทศ"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C: </a:t>
            </a:r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"เตรียมรายงานสรุปผล RCEP ให้ผู้บริหาร"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T: </a:t>
            </a:r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"สรุปผลกระทบต่อสินค้าเกษตรส่งออก 5 อันดับ"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F: </a:t>
            </a:r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"ตาราง ก่อน-หลัง ภาษาไทย 500 คำ มีอ้างอิง"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ผลลัพธ์ชัดเจน ตรงประเด็น ใช้งานได้จริง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Workshop: ฝึกเขียน RCTF | 3 โจทย์จากงานจริง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00600"/>
            <a:ext cx="80467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Google AI Ecosystem  |  กรมเจรจาการค้าระหว่างประเทศ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69748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269748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96012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โจทย์ 1: สรุปรายงานประชุม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46304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R: เลขานุการผู้เชี่ยวชาญการค้า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C: ประชุม FTA ไทย-EU รอบล่าสุด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T: สรุปประเด็นหลัก + มติ + สิ่งที่ต้องติดตาม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F: สรุป 1 หน้า 3 หัวข้อ ภาษาไทย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960120"/>
            <a:ext cx="269748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960120"/>
            <a:ext cx="2697480" cy="41148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96012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โจทย์ 2: วิเคราะห์ข้อมูลการค้า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55848" y="146304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R: นักเศรษฐศาสตร์ระหว่างประเทศ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C: รายงานประจำปีต่อกระทรวงพาณิชย์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T: วิเคราะห์แนวโน้มการค้าไทย-จีน 5 ปี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F: ตาราง + ข้อเสนอแนะ 3 ข้อ ภาษาไทย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960120"/>
            <a:ext cx="269748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960120"/>
            <a:ext cx="2697480" cy="41148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96012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โจทย์ 3: ร่างจดหมายเชิญเจรจา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36208" y="146304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R: ผอ.กองเจรจาการค้าทวิภาคี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C: เจรจา FTA ไทย-EU ต่อเนื่อง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T: เชิญผู้แทนการค้า EU มารอบที่ 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F: จดหมายทางการ EN ไม่เกิน 300 คำ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เทคนิค #3: Reverse Prompting | ให้ AI เป็นฝ่ายถาม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00600"/>
            <a:ext cx="80467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Google AI Ecosystem  |  กรมเจรจาการค้าระหว่างประเทศ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601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เมื่อไม่รู้จะเขียน Prompt อย่างไร → ให้สั่ง AI ว่า "ช่วยถามคำถามฉันก่อน" เพื่อเก็บข้อมูลให้ครบก่อนทำงาน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828800"/>
            <a:ext cx="54864" cy="25603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0195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ตัวอย่าง Prompt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267712"/>
            <a:ext cx="361188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"ฉันต้องการสร้างรายงานสรุปการเจรจา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FTA ไทย-EU ช่วยถามคำถามฉัน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ทีละ 3 ข้อ จนกว่าจะมีข้อมูลเพียงพอ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แล้วค่อยสร้างรายงาน"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จะถามทีละ 3 ข้อ เช่น: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ประเด็นหลักในการเจรจาคืออะไร?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กลุ่มเป้าหมายของรายงาน?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82880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828800"/>
            <a:ext cx="54864" cy="25603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90195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เหมาะกับงานไหน?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267712"/>
            <a:ext cx="361188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งานที่ซับซ้อน ต้องการข้อมูลหลายด้าน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เมื่อไม่แน่ใจว่าควรให้ข้อมูลอะไรบ้าง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ร่างเอกสารที่ต้องการรายละเอียดเฉพาะ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วิเคราะห์ที่ต้องพิจารณาหลายปัจจัย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เทคนิค #6: Chain of Thought | สั่งให้คิดเป็นขั้นตอน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00600"/>
            <a:ext cx="80467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Google AI Ecosystem  |  กรมเจรจาการค้าระหว่างประเทศ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51560" y="1005840"/>
            <a:ext cx="731520" cy="731520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005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920240" y="1371600"/>
            <a:ext cx="548640" cy="0"/>
          </a:xfrm>
          <a:prstGeom prst="line">
            <a:avLst/>
          </a:prstGeom>
          <a:noFill/>
          <a:ln w="2540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20240"/>
            <a:ext cx="19202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20240"/>
            <a:ext cx="192024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057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แจกแจง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Down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83464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แยกโจทย์เป็นส่วนย่อย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เพื่อไม่ให้ AI ตอบรวบรัด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005840"/>
            <a:ext cx="731520" cy="731520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1005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4069080" y="1371600"/>
            <a:ext cx="548640" cy="0"/>
          </a:xfrm>
          <a:prstGeom prst="line">
            <a:avLst/>
          </a:prstGeom>
          <a:noFill/>
          <a:ln w="2540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06040" y="1920240"/>
            <a:ext cx="19202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06040" y="1920240"/>
            <a:ext cx="1920240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0" y="2057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คิดทีละขั้น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43200" y="283464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ให้ AI อธิบาย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เหตุผลแต่ละขั้น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49240" y="1005840"/>
            <a:ext cx="731520" cy="731520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21" name="Text 19"/>
          <p:cNvSpPr/>
          <p:nvPr/>
        </p:nvSpPr>
        <p:spPr>
          <a:xfrm>
            <a:off x="5349240" y="1005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6217920" y="1371600"/>
            <a:ext cx="548640" cy="0"/>
          </a:xfrm>
          <a:prstGeom prst="line">
            <a:avLst/>
          </a:prstGeom>
          <a:noFill/>
          <a:ln w="2540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1920240"/>
            <a:ext cx="19202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1920240"/>
            <a:ext cx="1920240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2057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ตรวจสอบ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92040" y="283464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ให้ AI ตรวจคำตอบ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ลด Hallucination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498080" y="1005840"/>
            <a:ext cx="731520" cy="731520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0" y="1005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6903720" y="1920240"/>
            <a:ext cx="19202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03720" y="1920240"/>
            <a:ext cx="1920240" cy="54864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31" name="Text 29"/>
          <p:cNvSpPr/>
          <p:nvPr/>
        </p:nvSpPr>
        <p:spPr>
          <a:xfrm>
            <a:off x="7040880" y="2057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ปรับปรุง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40880" y="283464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ปรับ Prompt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ตามผลลัพธ์ที่ได้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Workshop: Chain of Thought ตัวอย่างจริง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00600"/>
            <a:ext cx="80467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Google AI Ecosystem  |  กรมเจรจาการค้าระหว่างประเทศ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601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โจทย์: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การเข้าร่วม CPTPP จะส่งผลดีหรือเสียต่ออุตสาหกรรมยาของไทยมากกว่ากัน?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91640"/>
            <a:ext cx="196596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6916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| แจกแจงปัจจัย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240280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"ระบุปัจจัยทั้งหมดที่เกี่ยวข้อง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แยกเป็นผลดีและผลเสีย"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31720" y="23774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514600" y="169164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14600" y="1691640"/>
            <a:ext cx="1965960" cy="4572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5" name="Text 13"/>
          <p:cNvSpPr/>
          <p:nvPr/>
        </p:nvSpPr>
        <p:spPr>
          <a:xfrm>
            <a:off x="2514600" y="16916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| วิเคราะห์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06040" y="2240280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"ให้คะแนนผลกระทบ 1-5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พร้อมเหตุผลแต่ละข้อ"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80560" y="23774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663440" y="169164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691640"/>
            <a:ext cx="1965960" cy="45720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16916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| สรุป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2240280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"สรุปผลรวม + ข้อเสนอแนะ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เชิงนโยบาย 3 ข้อ"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29400" y="23774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812280" y="169164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12280" y="1691640"/>
            <a:ext cx="1965960" cy="45720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25" name="Text 23"/>
          <p:cNvSpPr/>
          <p:nvPr/>
        </p:nvSpPr>
        <p:spPr>
          <a:xfrm>
            <a:off x="6812280" y="16916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| ตรวจสอบ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03720" y="2240280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"มีจุดอ่อนหรือข้อโต้แย้ง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ที่ยังไม่ได้พิจารณา?"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Workshop: CoT Template | แม่แบบฝึกปฏิบัติ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00600"/>
            <a:ext cx="80467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Google AI Ecosystem  |  กรมเจรจาการค้าระหว่างประเทศ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60120"/>
            <a:ext cx="54864" cy="100584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058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คำแนะนำ: 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เริ่ม Prompt ด้วย "ช่วยวิเคราะห์ทีละขั้นตอน (step by step)..." แล้วระบุปัจจัย เช่น "โดยพิจารณาจาก 1)... 2)... 3)..."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8229600" cy="2286000"/>
          </a:xfrm>
          <a:prstGeom prst="rect">
            <a:avLst/>
          </a:prstGeom>
          <a:solidFill>
            <a:srgbClr val="F5F0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Template: Chain of Thought Prompt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65176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ช่วยวิเคราะห์ทีละขั้นตอน (step by step) ว่า </a:t>
            </a:r>
            <a:pPr indent="0" marL="0">
              <a:buNone/>
            </a:pPr>
            <a:r>
              <a:rPr lang="en-US" sz="12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[คำถาม/ประเด็น]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โดยพิจารณาจาก: </a:t>
            </a:r>
            <a:pPr indent="0" marL="0">
              <a:buNone/>
            </a:pPr>
            <a:r>
              <a:rPr lang="en-US" sz="12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[ปัจจัย 1]  2) [ปัจจัย 2]  3) [ปัจจัย 3]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สรุปผลเป็น </a:t>
            </a:r>
            <a:pPr indent="0" marL="0">
              <a:buNone/>
            </a:pPr>
            <a:r>
              <a:rPr lang="en-US" sz="12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[ตาราง/รายงาน/ข้อเสนอแนะ]</a:t>
            </a:r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ภาษาไทย ไม่เกิน [จำนวน] คำ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ตรวจสอบข้อสรุปและระบุจุดอ่อน/ข้อโต้แย้งที่เป็นไปได้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097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2926080" y="914400"/>
            <a:ext cx="5760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Generative Tool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Exploring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926080" y="2011680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สร้างสื่อผสม + ร่างอีเมล + สร้างภาพ AI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926080" y="3200400"/>
            <a:ext cx="2011680" cy="411480"/>
          </a:xfrm>
          <a:prstGeom prst="roundRect">
            <a:avLst>
              <a:gd name="adj" fmla="val 22222"/>
            </a:avLst>
          </a:prstGeom>
          <a:solidFill>
            <a:srgbClr val="FF6F00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0" y="3200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11:00 - 12:00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4389120"/>
            <a:ext cx="7680960" cy="0"/>
          </a:xfrm>
          <a:prstGeom prst="line">
            <a:avLst/>
          </a:prstGeom>
          <a:noFill/>
          <a:ln w="12700">
            <a:solidFill>
              <a:srgbClr val="0097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86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Google AI Ecosystem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เทคนิค #5: ร่างอีเมล/ข้อความ | AI Drafting with Tone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00600"/>
            <a:ext cx="80467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Google AI Ecosystem  |  กรมเจรจาการค้าระหว่างประเทศ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60120"/>
            <a:ext cx="54864" cy="18288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3327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วิธีใช้ | How To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399032"/>
            <a:ext cx="36118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ระบุสถานการณ์ + กลุ่มเป้าหมาย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กำหนด "โทนเสียง" เช่น สุภาพ มืออาชีพ เป็นกันเอง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ระบุภาษาและความยาว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ตัวอย่าง: "ร่างอีเมลถึง EU ขอเลื่อนประชุม โทนสุภาพเป็นทางการ EN ไม่เกิน 200 คำ"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60120"/>
            <a:ext cx="54864" cy="1828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03327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 ที่ใช้บ่อย | Common Tones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399032"/>
            <a:ext cx="36118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/ ทางการ → จดหมายราชการ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/ มืออาชีพ → อีเมลงาน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Friendly / เป็นกันเอง → สื่อสารทีม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Persuasive / โน้มน้าว → ข้อเสนอ/proposal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เทคนิค #7: สร้างรูปภาพด้วย AI | Image Generation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00600"/>
            <a:ext cx="80467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Google AI Ecosystem  |  กรมเจรจาการค้าระหว่างประเทศ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60120"/>
            <a:ext cx="54864" cy="182880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3327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วิธีเขียน Prompt สร้างภาพ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399032"/>
            <a:ext cx="36118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ระบุเนื้อหาหลักของภาพ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กำหนดสไตล์ (Illustration, Photo, Infographic)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ระบุโทนสี สัดส่วน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ตัวอย่าง: "สร้าง Infographic สรุปผล FTA ไทย-EU สไตล์ Flat Design โทนน้ำเงิน-ทอง สัดส่วน 16:9"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60120"/>
            <a:ext cx="54864" cy="182880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03327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ใช้ประโยชน์อะไรได้บ้าง?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399032"/>
            <a:ext cx="36118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สร้าง Infographic สรุปข้อมูล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ภาพประกอบ Presentation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ออกแบบโปสเตอร์ประชาสัมพันธ์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สร้าง Visual สำหรับ Social Media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ภาพรวมเครื่องมือสร้างสื่อ | AI Media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00600"/>
            <a:ext cx="80467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Google AI Ecosystem  |  กรมเจรจาการค้าระหว่างประเทศ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9202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1920240" cy="5486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ข้อความ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737360"/>
            <a:ext cx="16459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เขียนบทความ สรุป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ร่างจดหมาย แปลภาษา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06040" y="1005840"/>
            <a:ext cx="19202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005840"/>
            <a:ext cx="1920240" cy="54864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005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รูปภาพ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0" y="1737360"/>
            <a:ext cx="16459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Infographic โปสเตอร์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ภาพประกอบสไลด์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19202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005840"/>
            <a:ext cx="1920240" cy="54864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005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เสียง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1737360"/>
            <a:ext cx="16459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เสียงพากย์ TTS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Podcast สรุปเนื้อหา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03720" y="1005840"/>
            <a:ext cx="19202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03720" y="1005840"/>
            <a:ext cx="1920240" cy="54864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20" name="Text 18"/>
          <p:cNvSpPr/>
          <p:nvPr/>
        </p:nvSpPr>
        <p:spPr>
          <a:xfrm>
            <a:off x="6903720" y="1005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วิดีโอ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40880" y="1737360"/>
            <a:ext cx="16459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วิดีโอสั้น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clips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097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2926080" y="914400"/>
            <a:ext cx="5760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NotebookLM +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Deep Research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926080" y="2011680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ฐานความรู้ + ค้นคว้าเชิงลึก + Project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926080" y="3200400"/>
            <a:ext cx="2011680" cy="411480"/>
          </a:xfrm>
          <a:prstGeom prst="roundRect">
            <a:avLst>
              <a:gd name="adj" fmla="val 22222"/>
            </a:avLst>
          </a:prstGeom>
          <a:solidFill>
            <a:srgbClr val="FF6F00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0" y="3200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13:00 - 14:30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4389120"/>
            <a:ext cx="7680960" cy="0"/>
          </a:xfrm>
          <a:prstGeom prst="line">
            <a:avLst/>
          </a:prstGeom>
          <a:noFill/>
          <a:ln w="12700">
            <a:solidFill>
              <a:srgbClr val="0097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86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Google AI Ecosystem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NotebookLM | ฐานความรู้อัจฉริยะ Source-Grounded AI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00600"/>
            <a:ext cx="80467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Google AI Ecosystem  |  กรมเจรจาการค้าระหว่างประเทศ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0058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อัปโหลดเอกสารของคุณ → AI ตอบคำถามพร้อมอ้างอิงจากแหล่งจริง → ลด Hallucination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26060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65960"/>
            <a:ext cx="260604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103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Knowledge Base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265176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อัปโหลด PDF, Docs,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เว็บ, YouTube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1965960"/>
            <a:ext cx="26060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965960"/>
            <a:ext cx="2606040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2103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897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Source-Grounded Q&amp;A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65176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คำตอบมีแหล่งอ้างอิง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ลด Hallucination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965960"/>
            <a:ext cx="26060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965960"/>
            <a:ext cx="2606040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2103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Audio Overview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63640" y="265176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Podcast สรุปเนื้อหา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อัตโนมัติ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เทคนิค #8-9: Project + Deep Research | ค้นคว้าเชิงลึก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00600"/>
            <a:ext cx="80467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Google AI Ecosystem  |  กรมเจรจาการค้าระหว่างประเทศ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393192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60120"/>
            <a:ext cx="54864" cy="33832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3327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เทคนิค #8: สร้าง Project จำบริบท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399032"/>
            <a:ext cx="361188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สร้าง "โฟลเดอร์" แยกสำหรับแต่ละงาน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อัปโหลดไฟล์ที่เกี่ยวข้องเข้าไปเก็บ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จดจำบริบทและดึงข้อมูลได้แม่นยำ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เหมาะกับ: โครงการ FTA, รายงานประจำปี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ใช้ใน: NotebookLM, Gemini Project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393192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60120"/>
            <a:ext cx="54864" cy="338328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03327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เทคนิค #9: Deep Research ค้นคว้าเชิงลึก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399032"/>
            <a:ext cx="361188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ใช้เมื่อต้องการข้อมูล สถิติ เทรนด์เจาะลึก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ค้นหาจากหลายแหล่ง (ใช้เวลา 15-20 นาที)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รวบรวมและสรุปเป็นรายงานเชื่อถือได้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เหมาะกับ: วิจัยตลาด, สถิติการค้า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"Deep Research: แนวโน้มตลาดอาเซียน 2025-2030"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097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2926080" y="914400"/>
            <a:ext cx="5760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AI Studio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 Data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926080" y="2011680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ปรับแต่ง AI เฉพาะทาง + วิเคราะห์ข้อมูลไฟล์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926080" y="3200400"/>
            <a:ext cx="2011680" cy="411480"/>
          </a:xfrm>
          <a:prstGeom prst="roundRect">
            <a:avLst>
              <a:gd name="adj" fmla="val 22222"/>
            </a:avLst>
          </a:prstGeom>
          <a:solidFill>
            <a:srgbClr val="FF6F00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0" y="3200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14:45 - 15:45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4389120"/>
            <a:ext cx="7680960" cy="0"/>
          </a:xfrm>
          <a:prstGeom prst="line">
            <a:avLst/>
          </a:prstGeom>
          <a:noFill/>
          <a:ln w="12700">
            <a:solidFill>
              <a:srgbClr val="0097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86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Google AI Ecosystem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AI Studio | System Instruction + Chatbot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00600"/>
            <a:ext cx="80467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Google AI Ecosystem  |  กรมเจรจาการค้าระหว่างประเทศ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060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54864" cy="21945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97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Instruction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กำหนดบทบาท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73736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ตั้งพฤติกรรม AI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ให้ตอบตามบริบท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เฉพาะทางที่กำหนด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26060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005840"/>
            <a:ext cx="54864" cy="219456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097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ปรับแต่ง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173736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ปรับ Temperature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Token, เลือก Model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เหมาะกับงาน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6060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05840"/>
            <a:ext cx="54864" cy="219456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097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Chatbot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แชทบอท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173736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สร้าง Chatbot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เฉพาะหน้าที่งาน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แชร์ให้ทีมใช้ได้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เทคนิค #4: วิเคราะห์ข้อมูลจากไฟล์ | File Data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00600"/>
            <a:ext cx="80467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Google AI Ecosystem  |  กรมเจรจาการค้าระหว่างประเทศ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393192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60120"/>
            <a:ext cx="54864" cy="338328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3327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วิธีใช้ | How To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399032"/>
            <a:ext cx="361188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อัปโหลดไฟล์ข้อมูล (Excel, CSV, PDF)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สั่ง AI วิเคราะห์ สรุป หาเทรนด์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สร้างกราฟ + พยากรณ์ (Forecast)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เสร็จภายในไม่กี่นาที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"วิเคราะห์ยอดส่งออกสินค้าเกษตร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จากไฟล์นี้ หาเทรนด์ 3 ปี สร้างกราฟ"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393192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60120"/>
            <a:ext cx="54864" cy="338328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03327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ตัวอย่างงานจริง | Real Examples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399032"/>
            <a:ext cx="361188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สรุปยอดรวมจากตารางสถิติการค้า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หาเทรนด์มูลค่าส่งออก-นำเข้า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พยากรณ์แนวโน้ม 1-3 ปีข้างหน้า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สร้างกราฟเปรียบเทียบรายประเทศ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ดึง Insight จากข้อมูลดิบจำนวนมาก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097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2926080" y="914400"/>
            <a:ext cx="5760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Vibe Coding +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Agent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926080" y="2011680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สร้างโปรเจกต์ + ตั้งงานอัตโนมัติ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926080" y="3200400"/>
            <a:ext cx="2011680" cy="411480"/>
          </a:xfrm>
          <a:prstGeom prst="roundRect">
            <a:avLst>
              <a:gd name="adj" fmla="val 22222"/>
            </a:avLst>
          </a:prstGeom>
          <a:solidFill>
            <a:srgbClr val="FF6F00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0" y="3200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15:45 - 16:30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4389120"/>
            <a:ext cx="7680960" cy="0"/>
          </a:xfrm>
          <a:prstGeom prst="line">
            <a:avLst/>
          </a:prstGeom>
          <a:noFill/>
          <a:ln w="12700">
            <a:solidFill>
              <a:srgbClr val="0097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86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Google AI Ecosystem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Vibe Coding | เปลี่ยนไอเดียเป็นโปรเจกต์ด้วยภาษาธรรมชาติ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00600"/>
            <a:ext cx="80467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Google AI Ecosystem  |  กรมเจรจาการค้าระหว่างประเทศ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60120"/>
            <a:ext cx="54864" cy="18288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3327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คืออะไร?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399032"/>
            <a:ext cx="36118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สร้างโปรเจกต์แบบ Low-code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ใช้ภาษาธรรมชาติ บอก AI ให้เขียนโค้ด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ไม่ต้องเป็นโปรแกรมเมอร์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ลดเวลาพัฒนาจากหลายวันเหลือชั่วโมง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60120"/>
            <a:ext cx="54864" cy="1828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03327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เครื่องมือแนะนำ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399032"/>
            <a:ext cx="36118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AI Studio (Web App Builder)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in Google Colab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Genkit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IDX with AI Assist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เทคนิค #10: AI Agent | ตั้งงานอัตโนมัติ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00600"/>
            <a:ext cx="80467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Google AI Ecosystem  |  กรมเจรจาการค้าระหว่างประเทศ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601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ตั้ง Task ให้ AI ทำงานอัตโนมัติ โดยไม่ต้องเปิดโปรแกรม — เหมือนมีผู้ช่วยส่วนตัว 24 ชม.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828800"/>
            <a:ext cx="54864" cy="256032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0195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ตัวอย่างการใช้งาน | Examples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267712"/>
            <a:ext cx="361188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สรุปข่าวการค้า 5 หัวข้อ ส่งทุกเช้า 7:00 น.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ติดตามสถานะ FTA รายสัปดาห์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สรุปอีเมลสำคัญประจำวัน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แจ้งเตือนเมื่อมีข่าวที่เกี่ยวข้อง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82880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828800"/>
            <a:ext cx="54864" cy="256032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90195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วิธีตั้งค่า | Setup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267712"/>
            <a:ext cx="361188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เข้า Tasks/Scheduled ใน AI Tool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ระบุงานที่ต้องทำ + ความถี่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ตั้งเวลา + ช่องทางแจ้งเตือน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ตัวอย่าง: "สรุปข่าวการค้าอาเซียน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ที่น่าสนใจ 5 หัวข้อ จันทร์-ศุกร์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เวลา 07:00 น. ส่งทางอีเมล"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สรุป 10 เทคนิค AI | 10 Techniques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00600"/>
            <a:ext cx="80467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Google AI Ecosystem  |  กรมเจรจาการค้าระหว่างประเทศ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1600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097280"/>
            <a:ext cx="594360" cy="59436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097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17373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Instruction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21031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ตั้งค่า AI ให้รู้จักคุณ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29968" y="960120"/>
            <a:ext cx="1600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32888" y="1097280"/>
            <a:ext cx="594360" cy="59436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13" name="Text 11"/>
          <p:cNvSpPr/>
          <p:nvPr/>
        </p:nvSpPr>
        <p:spPr>
          <a:xfrm>
            <a:off x="2532888" y="1097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075688" y="17373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RCTF Prompting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75688" y="21031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โครงสร้าง Prompt มืออาชีพ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85616" y="960120"/>
            <a:ext cx="1600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88536" y="1097280"/>
            <a:ext cx="594360" cy="594360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18" name="Text 16"/>
          <p:cNvSpPr/>
          <p:nvPr/>
        </p:nvSpPr>
        <p:spPr>
          <a:xfrm>
            <a:off x="4288536" y="1097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831336" y="17373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Prompting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31336" y="21031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ให้ AI เป็นฝ่ายถามก่อน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541264" y="960120"/>
            <a:ext cx="1600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44184" y="1097280"/>
            <a:ext cx="594360" cy="594360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23" name="Text 21"/>
          <p:cNvSpPr/>
          <p:nvPr/>
        </p:nvSpPr>
        <p:spPr>
          <a:xfrm>
            <a:off x="6044184" y="1097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86984" y="17373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Data Analysis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86984" y="21031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วิเคราะห์ข้อมูลจากไฟล์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296912" y="960120"/>
            <a:ext cx="1600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799832" y="1097280"/>
            <a:ext cx="594360" cy="594360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28" name="Text 26"/>
          <p:cNvSpPr/>
          <p:nvPr/>
        </p:nvSpPr>
        <p:spPr>
          <a:xfrm>
            <a:off x="7799832" y="1097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342632" y="17373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Drafting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42632" y="21031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ร่างอีเมล/ข้อความ + โทน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2880360"/>
            <a:ext cx="1600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77240" y="3017520"/>
            <a:ext cx="594360" cy="59436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3017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320040" y="365760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of Thought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0040" y="40233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สั่งให้คิดเป็นขั้นตอน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029968" y="2880360"/>
            <a:ext cx="1600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532888" y="3017520"/>
            <a:ext cx="594360" cy="59436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38" name="Text 36"/>
          <p:cNvSpPr/>
          <p:nvPr/>
        </p:nvSpPr>
        <p:spPr>
          <a:xfrm>
            <a:off x="2532888" y="3017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2075688" y="365760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Generation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075688" y="40233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สร้างรูปภาพ Infographic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785616" y="2880360"/>
            <a:ext cx="1600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288536" y="3017520"/>
            <a:ext cx="594360" cy="594360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43" name="Text 41"/>
          <p:cNvSpPr/>
          <p:nvPr/>
        </p:nvSpPr>
        <p:spPr>
          <a:xfrm>
            <a:off x="4288536" y="3017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3831336" y="365760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Context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831336" y="40233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สร้างโปรเจกต์จำบริบท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541264" y="2880360"/>
            <a:ext cx="1600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044184" y="3017520"/>
            <a:ext cx="594360" cy="594360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48" name="Text 46"/>
          <p:cNvSpPr/>
          <p:nvPr/>
        </p:nvSpPr>
        <p:spPr>
          <a:xfrm>
            <a:off x="6044184" y="3017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5586984" y="365760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Research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86984" y="40233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ค้นคว้าเชิงลึก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296912" y="2880360"/>
            <a:ext cx="1600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799832" y="3017520"/>
            <a:ext cx="594360" cy="59436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53" name="Text 51"/>
          <p:cNvSpPr/>
          <p:nvPr/>
        </p:nvSpPr>
        <p:spPr>
          <a:xfrm>
            <a:off x="7799832" y="3017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7342632" y="365760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342632" y="40233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ตั้งงานอัตโนมัติ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1828800"/>
            <a:ext cx="5486400" cy="5486400"/>
          </a:xfrm>
          <a:prstGeom prst="ellipse">
            <a:avLst/>
          </a:prstGeom>
          <a:solidFill>
            <a:srgbClr val="1E3A8A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ขอบคุณครับ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0" y="2834640"/>
            <a:ext cx="3657600" cy="0"/>
          </a:xfrm>
          <a:prstGeom prst="line">
            <a:avLst/>
          </a:prstGeom>
          <a:noFill/>
          <a:ln w="25400">
            <a:solidFill>
              <a:srgbClr val="FFA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ดร.ธัญญา สัตยาอภิธาน | Dr. Thanya Sattayaaphithan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"งานยาก จบง่าย ด้วยพลัง AI"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0897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Mastering Google AI Ecosystem</dc:title>
  <dc:subject>PptxGenJS Presentation</dc:subject>
  <dc:creator>Dr. Thanya Sattayaaphithan</dc:creator>
  <cp:lastModifiedBy>Dr. Thanya Sattayaaphithan</cp:lastModifiedBy>
  <cp:revision>1</cp:revision>
  <dcterms:created xsi:type="dcterms:W3CDTF">2026-03-09T03:07:46Z</dcterms:created>
  <dcterms:modified xsi:type="dcterms:W3CDTF">2026-03-09T03:07:46Z</dcterms:modified>
</cp:coreProperties>
</file>